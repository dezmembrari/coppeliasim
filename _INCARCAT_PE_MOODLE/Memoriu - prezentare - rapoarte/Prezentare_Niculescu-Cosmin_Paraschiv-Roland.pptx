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3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 (ms)</c:v>
                </c:pt>
              </c:strCache>
            </c:strRef>
          </c:tx>
          <c:spPr>
            <a:ln w="25400" cap="flat">
              <a:solidFill>
                <a:srgbClr val="2DC65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C653"/>
              </a:solidFill>
              <a:ln w="9525" cap="flat">
                <a:solidFill>
                  <a:srgbClr val="2DC653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3.41</c:v>
                </c:pt>
                <c:pt idx="1">
                  <c:v>1.72</c:v>
                </c:pt>
                <c:pt idx="2">
                  <c:v>1.64</c:v>
                </c:pt>
                <c:pt idx="3">
                  <c:v>1.47</c:v>
                </c:pt>
                <c:pt idx="4">
                  <c:v>1.37</c:v>
                </c:pt>
                <c:pt idx="5">
                  <c:v>1.47</c:v>
                </c:pt>
                <c:pt idx="6">
                  <c:v>1.48</c:v>
                </c:pt>
                <c:pt idx="7">
                  <c:v>2.13</c:v>
                </c:pt>
                <c:pt idx="8">
                  <c:v>1.38</c:v>
                </c:pt>
                <c:pt idx="9">
                  <c:v>1.48</c:v>
                </c:pt>
                <c:pt idx="10">
                  <c:v>1.47</c:v>
                </c:pt>
                <c:pt idx="11">
                  <c:v>1.52</c:v>
                </c:pt>
                <c:pt idx="12">
                  <c:v>1.41</c:v>
                </c:pt>
                <c:pt idx="13">
                  <c:v>1.71</c:v>
                </c:pt>
                <c:pt idx="14">
                  <c:v>1.53</c:v>
                </c:pt>
                <c:pt idx="15">
                  <c:v>1.34</c:v>
                </c:pt>
                <c:pt idx="16">
                  <c:v>1.54</c:v>
                </c:pt>
                <c:pt idx="17">
                  <c:v>1.9</c:v>
                </c:pt>
                <c:pt idx="18">
                  <c:v>1.36</c:v>
                </c:pt>
                <c:pt idx="19">
                  <c:v>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D2-402C-A142-201D69BC46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 Current (ms)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66.680000000000007</c:v>
                </c:pt>
                <c:pt idx="1">
                  <c:v>62.58</c:v>
                </c:pt>
                <c:pt idx="2">
                  <c:v>87.86</c:v>
                </c:pt>
                <c:pt idx="3">
                  <c:v>60.97</c:v>
                </c:pt>
                <c:pt idx="4">
                  <c:v>62.68</c:v>
                </c:pt>
                <c:pt idx="5">
                  <c:v>59.4</c:v>
                </c:pt>
                <c:pt idx="6">
                  <c:v>62.1</c:v>
                </c:pt>
                <c:pt idx="7">
                  <c:v>64.84</c:v>
                </c:pt>
                <c:pt idx="8">
                  <c:v>61.29</c:v>
                </c:pt>
                <c:pt idx="9">
                  <c:v>64.11</c:v>
                </c:pt>
                <c:pt idx="10">
                  <c:v>62.88</c:v>
                </c:pt>
                <c:pt idx="11">
                  <c:v>61.14</c:v>
                </c:pt>
                <c:pt idx="12">
                  <c:v>60.97</c:v>
                </c:pt>
                <c:pt idx="13">
                  <c:v>62.74</c:v>
                </c:pt>
                <c:pt idx="14">
                  <c:v>59.43</c:v>
                </c:pt>
                <c:pt idx="15">
                  <c:v>59.99</c:v>
                </c:pt>
                <c:pt idx="16">
                  <c:v>63.45</c:v>
                </c:pt>
                <c:pt idx="17">
                  <c:v>64.25</c:v>
                </c:pt>
                <c:pt idx="18">
                  <c:v>62.96</c:v>
                </c:pt>
                <c:pt idx="19">
                  <c:v>62.93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D2-402C-A142-201D69BC46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 Avg (ms)</c:v>
                </c:pt>
              </c:strCache>
            </c:strRef>
          </c:tx>
          <c:spPr>
            <a:ln w="25400" cap="flat">
              <a:solidFill>
                <a:srgbClr val="CC6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6600"/>
              </a:solidFill>
              <a:ln w="9525" cap="flat">
                <a:solidFill>
                  <a:srgbClr val="CC6600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66.680000000000007</c:v>
                </c:pt>
                <c:pt idx="1">
                  <c:v>64.63</c:v>
                </c:pt>
                <c:pt idx="2">
                  <c:v>72.37</c:v>
                </c:pt>
                <c:pt idx="3">
                  <c:v>69.52</c:v>
                </c:pt>
                <c:pt idx="4">
                  <c:v>68.150000000000006</c:v>
                </c:pt>
                <c:pt idx="5">
                  <c:v>66.69</c:v>
                </c:pt>
                <c:pt idx="6">
                  <c:v>66.040000000000006</c:v>
                </c:pt>
                <c:pt idx="7">
                  <c:v>65.89</c:v>
                </c:pt>
                <c:pt idx="8">
                  <c:v>65.38</c:v>
                </c:pt>
                <c:pt idx="9">
                  <c:v>65.25</c:v>
                </c:pt>
                <c:pt idx="10">
                  <c:v>65.040000000000006</c:v>
                </c:pt>
                <c:pt idx="11">
                  <c:v>64.709999999999994</c:v>
                </c:pt>
                <c:pt idx="12">
                  <c:v>64.42</c:v>
                </c:pt>
                <c:pt idx="13">
                  <c:v>64.3</c:v>
                </c:pt>
                <c:pt idx="14">
                  <c:v>63.98</c:v>
                </c:pt>
                <c:pt idx="15">
                  <c:v>63.73</c:v>
                </c:pt>
                <c:pt idx="16">
                  <c:v>63.71</c:v>
                </c:pt>
                <c:pt idx="17">
                  <c:v>63.74</c:v>
                </c:pt>
                <c:pt idx="18">
                  <c:v>63.7</c:v>
                </c:pt>
                <c:pt idx="19">
                  <c:v>63.66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D2-402C-A142-201D69BC4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CC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97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CC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D0E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87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4480560"/>
            <a:ext cx="8823960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82296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"/>
            <a:ext cx="2926080" cy="292608"/>
          </a:xfrm>
          <a:prstGeom prst="rect">
            <a:avLst/>
          </a:prstGeom>
          <a:solidFill>
            <a:srgbClr val="00B4D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AUTOMATIZĂRI ȘI ROBOTICĂ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Sortare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Automatizată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47548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57860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CoppeliaSim — Control extern prin Remote API (ZeroMQ) și Machine Learning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41732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48840" y="3246120"/>
            <a:ext cx="141732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488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3246120"/>
            <a:ext cx="141732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490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49240" y="3246120"/>
            <a:ext cx="141732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492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ZeroMQ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49440" y="3246120"/>
            <a:ext cx="141732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494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Studenti</a:t>
            </a:r>
            <a:r>
              <a:rPr lang="en-US" sz="900" dirty="0">
                <a:solidFill>
                  <a:schemeClr val="bg1"/>
                </a:solidFill>
              </a:rPr>
              <a:t>: NICULESCU COSMIN , PARASCHIV ROLAND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Cuprins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prezentării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0789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0789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1615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și Obiectivele Proiectului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" y="19933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1168" y="19933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1168" y="19933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305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01168" y="29077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01168" y="29077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01168" y="29077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04495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de Date &amp; Configurația Scenei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01168" y="38221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01168" y="38221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01168" y="38221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9593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07008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Metodele de Detecție Vizuală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636008" y="10789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636008" y="10789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636008" y="10789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121615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41848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Datasetul și Modelul ML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636008" y="19933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636008" y="19933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4636008" y="19933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2130552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641848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Experimentale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636008" y="29077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4636008" y="29077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636008" y="29077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8072" y="3044952"/>
            <a:ext cx="411480" cy="4114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641848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Dificultăți &amp; Soluții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4636008" y="3822192"/>
            <a:ext cx="4160520" cy="713232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4636008" y="3822192"/>
            <a:ext cx="438912" cy="71323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4636008" y="38221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8072" y="3959352"/>
            <a:ext cx="411480" cy="4114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641848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&amp; Direcții Viitoare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și Obiectivele Proiectului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automatizarea sortării?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51560"/>
            <a:ext cx="4023360" cy="36576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1051560"/>
            <a:ext cx="4023360" cy="2743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1389888"/>
            <a:ext cx="37673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 de producție virtuală completă în CoppeliaSim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Controlul NU se face din scripturi interne ale simulatorului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extern via Remote API (ZeroMQ) gestionează întreaga logică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tipuri de obiecte × două culori = 4 clase distincte:</a:t>
            </a:r>
            <a:endParaRPr lang="en-US" sz="11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Cube · Blue Cube · Red Cylinder · Blue Cylinder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Sortare automată și repetabilă pe loturi de ≥ 20 obiecte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1051560"/>
            <a:ext cx="4480560" cy="36576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34840" y="1051560"/>
            <a:ext cx="4480560" cy="2743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44568" y="10789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 PRINCIPALE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44568" y="141732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44568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64608" y="1417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scenă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64608" y="1618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 tipuri obiecte, senzor vizual, 2 containere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44568" y="2066544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44568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64608" y="2066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Conectare Remote API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64608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handles, start/stop simulare din Python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44568" y="2715768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44568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64608" y="2715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Detecție vizuală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64608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clasică (HSV + extent) și ML (Random Forest)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44568" y="3364992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44568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64608" y="3364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Logică de decizie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64608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sortare automată, repetabilă, ≥ 20 obiecte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44568" y="4014216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4456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64608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Jurnalizare CSV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64608" y="4215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latențe, acuratețe, tip obiect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 — Structura Modulară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 Python cu responsabilități bine delimitate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2852928" cy="292608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1168" y="10058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GUI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" y="1353312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1168" y="135331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9184" y="138074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factory_gui.py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9184" y="15819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PyQt6 multi-thread, 6 tab-uri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01168" y="1874520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01168" y="18745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9184" y="19019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gui_state.py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9184" y="21031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Spațiu de stare partajat, modificări live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1168" y="2395728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01168" y="2395728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9184" y="242316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9184" y="262432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globale, căi hardware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91256" y="1005840"/>
            <a:ext cx="2852928" cy="2926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91256" y="10058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PERCEPȚIE &amp; DECIZIE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191256" y="1353312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191256" y="135331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19272" y="138074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vision.py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19272" y="15819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Captură imagine, extracție trăsături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191256" y="1874520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191256" y="18745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19272" y="19019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classic_vision.py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319272" y="21031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Detecție HSV + extent (fără ML)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191256" y="2395728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191256" y="2395728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319272" y="242316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ml_inference.py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319272" y="262432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Inferență Random Forest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191256" y="2916936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191256" y="2916936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319272" y="29443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train_model.py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319272" y="314553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Antrenare model, export .joblib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191256" y="3438144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191256" y="3438144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319272" y="346557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station_manager.py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319272" y="366674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Orchestrare sortare per stație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181344" y="1005840"/>
            <a:ext cx="2852928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181344" y="10058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ACȚIONARE &amp; LOGISTICĂ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181344" y="1353312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181344" y="135331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309360" y="138074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robot_controller.py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309360" y="15819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UR5 — mașină de stări, interpolare cos.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181344" y="1874520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181344" y="18745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309360" y="19019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kinematics.py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309360" y="21031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Cinematică directă &amp; inversă 2D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181344" y="2395728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6181344" y="2395728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309360" y="242316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pusher_controller.py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309360" y="262432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 deviere — EXTEND/COOLDOWN/IDLE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6181344" y="2916936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6181344" y="2916936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309360" y="29443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palletizer.py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6309360" y="314553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configurabil de depunere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181344" y="3438144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6181344" y="3438144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309360" y="346557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actuators.py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309360" y="366674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Abstractizare conveior (ctrl/packFloat/legacy)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6181344" y="3959352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6181344" y="395935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309360" y="398678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stats_logger.py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6309360" y="418795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Jurnalizare CSV automată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6181344" y="4480560"/>
            <a:ext cx="2852928" cy="457200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6181344" y="448056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6309360" y="450799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spawner.py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6309360" y="470916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obiecte cu spacing dinamic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201168" y="47548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Arhitectura permite modificarea parametrilor în timp real prin GUIState, fără repornirea simulării.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de Date — De la generare la depunere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eveniment de sortare parcurge 7 etape secvențiale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" y="1234440"/>
            <a:ext cx="1161288" cy="23774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2356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2356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10312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Generează obiect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bandă principală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335024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380744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1435608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833372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833372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220" y="14173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SENSOR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481328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Captură imagine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px la trecere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606040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651760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706624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104388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104388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1236" y="141732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752344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752344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sau CV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identifică clasa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877056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922776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3977640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375404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375404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252" y="141732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23360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MGR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4023360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stația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destinație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148072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5193792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5248656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5646420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646420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3268" y="1417320"/>
            <a:ext cx="502920" cy="5029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94376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PUSHER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5294376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Deviază obiectul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banda scurtă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419088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6464808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6519672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917436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917436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4" y="1417320"/>
            <a:ext cx="502920" cy="50292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565392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UR5 ROBOT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6565392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Ridică, transportă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depune în grid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7690104" y="2404872"/>
            <a:ext cx="731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/>
          <p:nvPr/>
        </p:nvSpPr>
        <p:spPr>
          <a:xfrm>
            <a:off x="7735824" y="2331720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7790688" y="1234440"/>
            <a:ext cx="1161288" cy="23774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48"/>
          <p:cNvSpPr/>
          <p:nvPr/>
        </p:nvSpPr>
        <p:spPr>
          <a:xfrm>
            <a:off x="8188452" y="996696"/>
            <a:ext cx="365760" cy="365760"/>
          </a:xfrm>
          <a:prstGeom prst="lin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/>
          <p:nvPr/>
        </p:nvSpPr>
        <p:spPr>
          <a:xfrm>
            <a:off x="8188452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0" y="1417320"/>
            <a:ext cx="502920" cy="50292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7836408" y="20116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LOGGER</a:t>
            </a:r>
            <a:endParaRPr lang="en-US" sz="800" dirty="0"/>
          </a:p>
        </p:txBody>
      </p:sp>
      <p:sp>
        <p:nvSpPr>
          <p:cNvPr id="61" name="Text 51"/>
          <p:cNvSpPr/>
          <p:nvPr/>
        </p:nvSpPr>
        <p:spPr>
          <a:xfrm>
            <a:off x="7836408" y="2377440"/>
            <a:ext cx="1069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Consemnează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evenimentul în CSV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164592" y="3840480"/>
            <a:ext cx="8814816" cy="502920"/>
          </a:xfrm>
          <a:prstGeom prst="rect">
            <a:avLst/>
          </a:prstGeom>
          <a:solidFill>
            <a:srgbClr val="1B3A5C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3"/>
          <p:cNvSpPr/>
          <p:nvPr/>
        </p:nvSpPr>
        <p:spPr>
          <a:xfrm>
            <a:off x="320040" y="38587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Configurație scenă CoppeliaSim:  3 benzi principale  ·  2 benzi scurte  ·  2 brațe UR5  ·  2 pushers  ·  1 vision sensor  ·  5 proximity sensors  ·  4 șabloane obiecte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Metodele de Detecție Vizuală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Comutare în timp real fără repornirea simulării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4160520" cy="39776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1005840"/>
            <a:ext cx="4160520" cy="2743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" y="10332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CLASICĂ — classic_vision.py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Detectarea Culorii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16276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Conversie BGR → HSV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Mascare prag roșu: [0°–10°] ∪ [160°–180°]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Mascare prag albastru: [100°–140°]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Culoarea dominantă = max pixeli activi (min 50 px)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" y="2615184"/>
            <a:ext cx="3749040" cy="36576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Detectarea Formei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29443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contur pe masca culorii active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= Arie contur / Arie bounding box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&gt; 0.85  →  CUBE  (privit de sus: pătrat)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≤ 0.85  →  CYLINDER  (privit de sus: cerc)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0555" y="4066918"/>
            <a:ext cx="374904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 1 ms / obiect  ·  Fără date de antrenare  ·  Transparent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53712" y="1005840"/>
            <a:ext cx="4370832" cy="39776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53712" y="1005840"/>
            <a:ext cx="4370832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663440" y="103327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ML — ml_inference.py  +  train_model.py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00016" y="13716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Vectorul de 4 trăsături invariante la rotație: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0016" y="1664208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18888" y="1682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mediu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18888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Componenta de culoare HSV, calculată exclusiv pe pixelii obiectului (mascat prin contur)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00016" y="228600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18888" y="2304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Saturație medie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18888" y="2523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Complementară hue-ului; diferențiază obiectele saturate de fundal neutru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00016" y="2907792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18888" y="2926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Circularitate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18888" y="3145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4πA/P²  →  1.0 = cerc perfect,  ~0.78 = pătrat indiferent de rotație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0016" y="3529584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18888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18888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 / bounding box — invariant la rotație, diferențiază formele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00016" y="4066918"/>
            <a:ext cx="406908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73168" y="40050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 — 100 arbori  ·  Scikit-learn  ·  Export .joblib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furnizează procentul de încredere în timp real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Datasetul și Modelul ML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Construcție, antrenare și validare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4754880" cy="32004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1005840"/>
            <a:ext cx="4754880" cy="2743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" y="1033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DATASETULUI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1371600"/>
            <a:ext cx="4434840" cy="438912"/>
          </a:xfrm>
          <a:prstGeom prst="rect">
            <a:avLst/>
          </a:prstGeom>
          <a:solidFill>
            <a:srgbClr val="1B3A5C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" y="1371600"/>
            <a:ext cx="201168" cy="43891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" y="1463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📁  ML/dataset/RED CYLINDER/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" y="1901952"/>
            <a:ext cx="4434840" cy="438912"/>
          </a:xfrm>
          <a:prstGeom prst="rect">
            <a:avLst/>
          </a:prstGeom>
          <a:solidFill>
            <a:srgbClr val="1B3A5C"/>
          </a:solidFill>
          <a:ln w="1524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7472" y="1901952"/>
            <a:ext cx="201168" cy="438912"/>
          </a:xfrm>
          <a:prstGeom prst="rect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792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📁  ML/dataset/BLUE CYLINDER/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7472" y="2432304"/>
            <a:ext cx="4434840" cy="438912"/>
          </a:xfrm>
          <a:prstGeom prst="rect">
            <a:avLst/>
          </a:prstGeom>
          <a:solidFill>
            <a:srgbClr val="1B3A5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7472" y="2432304"/>
            <a:ext cx="201168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1792" y="2523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📁  ML/dataset/RED CUBOID/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" y="2962656"/>
            <a:ext cx="4434840" cy="438912"/>
          </a:xfrm>
          <a:prstGeom prst="rect">
            <a:avLst/>
          </a:prstGeom>
          <a:solidFill>
            <a:srgbClr val="1B3A5C"/>
          </a:solidFill>
          <a:ln w="1524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7472" y="2962656"/>
            <a:ext cx="20116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1792" y="3054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📁  ML/dataset/BLUE CUBOID/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47472" y="35295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Imagini 128×128 px capturate din vision sensor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30–50 exemple per clasă (split 80/20)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get_fingerprint() identic la antrenare și inferență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138928" y="1005840"/>
            <a:ext cx="3767328" cy="32004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138928" y="1005840"/>
            <a:ext cx="3767328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248656" y="10332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ANTRENARE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285232" y="1371600"/>
            <a:ext cx="3456432" cy="438912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285232" y="1371600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394960" y="14081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load_data()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94960" y="16093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Iterează folderele, extrage vectori de 4 trăsături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285232" y="1901952"/>
            <a:ext cx="3456432" cy="438912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285232" y="1901952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394960" y="19385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train_test_split()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394960" y="21396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antrenare / 20% test (random_state=42)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285232" y="2432304"/>
            <a:ext cx="3456432" cy="438912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285232" y="2432304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394960" y="2468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RandomForest.fit()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394960" y="2670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arbori, n_jobs=-1 (paralelism complet)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285232" y="2962656"/>
            <a:ext cx="3456432" cy="438912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285232" y="2962656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394960" y="29992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classification_report()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9496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F1-Score per clasă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285232" y="3493008"/>
            <a:ext cx="3456432" cy="438912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85232" y="3493008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394960" y="35295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joblib.dump()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394960" y="3730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model → random_forest_model.joblib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01168" y="4315968"/>
            <a:ext cx="8705088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347472" y="436168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Decizie cheie de design:  Vectorul de trăsături invariante la rotație elimină nevoia de augmentare a datelor și asigură clasificare corectă indiferent de orientarea obiectului pe bandă.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Experimentale — Latența de Inferență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obiecte per sesiune · Comparație CLASSIC vs ML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987552"/>
            <a:ext cx="201168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987552"/>
            <a:ext cx="201168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1168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ms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01168" y="15407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medie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(stabilizată)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14016" y="987552"/>
            <a:ext cx="201168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14016" y="987552"/>
            <a:ext cx="201168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414016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64.08 ms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414016" y="15407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medie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(stabilizată)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26864" y="987552"/>
            <a:ext cx="201168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26864" y="987552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26864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~42×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626864" y="15407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mai rapid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decât ML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39712" y="987552"/>
            <a:ext cx="201168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39712" y="987552"/>
            <a:ext cx="201168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39712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839712" y="15407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sortare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ambele moduri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01168" y="2103120"/>
          <a:ext cx="8741664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hape 21"/>
          <p:cNvSpPr/>
          <p:nvPr/>
        </p:nvSpPr>
        <p:spPr>
          <a:xfrm>
            <a:off x="5303520" y="2148840"/>
            <a:ext cx="356616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394960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Vârf ML la obj. 3 (87.86 ms) = GC pause Python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Comparație: Metoda Clasică vs. Machine Learning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 multi-criteriu bazată pe date experimentale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987552"/>
            <a:ext cx="8741664" cy="34747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1168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Criteriu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01568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CLASSIC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13248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ML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98755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1168" y="1371600"/>
            <a:ext cx="8741664" cy="365760"/>
          </a:xfrm>
          <a:prstGeom prst="rect">
            <a:avLst/>
          </a:prstGeom>
          <a:solidFill>
            <a:srgbClr val="112233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1444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medie inferență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01568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~1.52 ms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13248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~64.08 ms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98080" y="1435608"/>
            <a:ext cx="1280160" cy="256032"/>
          </a:xfrm>
          <a:prstGeom prst="rect">
            <a:avLst/>
          </a:prstGeom>
          <a:solidFill>
            <a:srgbClr val="0077A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98080" y="1435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01168" y="1755648"/>
            <a:ext cx="8741664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18288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(simulare)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18288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13248" y="18288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498080" y="1819656"/>
            <a:ext cx="1280160" cy="256032"/>
          </a:xfrm>
          <a:prstGeom prst="rect">
            <a:avLst/>
          </a:prstGeom>
          <a:solidFill>
            <a:srgbClr val="1B3A5C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0" y="1819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01168" y="2139696"/>
            <a:ext cx="8741664" cy="365760"/>
          </a:xfrm>
          <a:prstGeom prst="rect">
            <a:avLst/>
          </a:prstGeom>
          <a:solidFill>
            <a:srgbClr val="112233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4320" y="22128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Robustețe la rotație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401568" y="2212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13248" y="2212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Ridicată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498080" y="2203704"/>
            <a:ext cx="1280160" cy="256032"/>
          </a:xfrm>
          <a:prstGeom prst="rect">
            <a:avLst/>
          </a:prstGeom>
          <a:solidFill>
            <a:srgbClr val="1A5276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98080" y="2203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01168" y="2523744"/>
            <a:ext cx="8741664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74320" y="25968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Robustețe la iluminare variabilă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401568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Scăzută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13248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498080" y="2587752"/>
            <a:ext cx="1280160" cy="256032"/>
          </a:xfrm>
          <a:prstGeom prst="rect">
            <a:avLst/>
          </a:prstGeom>
          <a:solidFill>
            <a:srgbClr val="1A5276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498080" y="2587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1168" y="2907792"/>
            <a:ext cx="8741664" cy="365760"/>
          </a:xfrm>
          <a:prstGeom prst="rect">
            <a:avLst/>
          </a:prstGeom>
          <a:solidFill>
            <a:srgbClr val="112233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29809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antrenare necesare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401568" y="29809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13248" y="29809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(≥30 img/cls)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498080" y="2971800"/>
            <a:ext cx="1280160" cy="256032"/>
          </a:xfrm>
          <a:prstGeom prst="rect">
            <a:avLst/>
          </a:prstGeom>
          <a:solidFill>
            <a:srgbClr val="0077A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498080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01168" y="3291840"/>
            <a:ext cx="8741664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74320" y="3364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Scalabilitate la clase noi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3401568" y="3364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Rescrierea regulilor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413248" y="3364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Re-antrenare model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498080" y="3355848"/>
            <a:ext cx="1280160" cy="256032"/>
          </a:xfrm>
          <a:prstGeom prst="rect">
            <a:avLst/>
          </a:prstGeom>
          <a:solidFill>
            <a:srgbClr val="1A5276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498080" y="3355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01168" y="3675888"/>
            <a:ext cx="8741664" cy="365760"/>
          </a:xfrm>
          <a:prstGeom prst="rect">
            <a:avLst/>
          </a:prstGeom>
          <a:solidFill>
            <a:srgbClr val="112233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74320" y="37490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Transparență / auditabilitate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3401568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Completă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413248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Parțială (RF)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498080" y="3739896"/>
            <a:ext cx="1280160" cy="256032"/>
          </a:xfrm>
          <a:prstGeom prst="rect">
            <a:avLst/>
          </a:prstGeom>
          <a:solidFill>
            <a:srgbClr val="0077A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498080" y="3739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01168" y="4059936"/>
            <a:ext cx="8741664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74320" y="41330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de implementare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3401568" y="4133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413248" y="4133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7498080" y="4123944"/>
            <a:ext cx="1280160" cy="256032"/>
          </a:xfrm>
          <a:prstGeom prst="rect">
            <a:avLst/>
          </a:prstGeom>
          <a:solidFill>
            <a:srgbClr val="0077A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7498080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201168" y="4443984"/>
            <a:ext cx="8741664" cy="365760"/>
          </a:xfrm>
          <a:prstGeom prst="rect">
            <a:avLst/>
          </a:prstGeom>
          <a:solidFill>
            <a:srgbClr val="112233"/>
          </a:solidFill>
          <a:ln w="381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74320" y="45171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Confidență cuantificabilă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3401568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5413248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(predict_proba)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498080" y="4507992"/>
            <a:ext cx="1280160" cy="256032"/>
          </a:xfrm>
          <a:prstGeom prst="rect">
            <a:avLst/>
          </a:prstGeom>
          <a:solidFill>
            <a:srgbClr val="1A5276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749808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Dificultăți Întâmpinate &amp; Soluții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Provocări tehnice rezolvate în implementare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8741664" cy="749808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1005840"/>
            <a:ext cx="73152" cy="7498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" y="1060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Sincronizarea fizicii UR5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12801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Obiectele cădeau prin suprafețe sau rămâneau blocate în geometria brațului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49040" y="1344168"/>
            <a:ext cx="4572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60520" y="12618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98848" y="1097280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Dezactivare respondabilitate + setare static în _set_gripper(); resetDynamicObject() la eliberare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1168" y="1819656"/>
            <a:ext cx="8741664" cy="749808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01168" y="1819656"/>
            <a:ext cx="73152" cy="7498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7472" y="1874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Detecția API-ului conveiorului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" y="20939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CoppeliaSim expune 3 API-uri diferite în funcție de versiunea scenei (ctrl / packFloat / legacy)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49040" y="2157984"/>
            <a:ext cx="4572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60520" y="20756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498848" y="1911096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One-time discovery + caching în _conveyor_methods dict — zero overhead la execuție repetată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01168" y="2633472"/>
            <a:ext cx="8741664" cy="749808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01168" y="2633472"/>
            <a:ext cx="73152" cy="7498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7472" y="2688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Latența ZeroMQ la rezoluții mari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7472" y="29077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Vision sensor &gt; 128×128 px introducea lag semnificativ pe socket-ul ZeroMQ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749040" y="2971800"/>
            <a:ext cx="457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60520" y="28895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498848" y="272491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Rezoluție optimă 128×128 px — suficientă pentru extracția trăsăturilor, fără penalizare de rețea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01168" y="3447288"/>
            <a:ext cx="8741664" cy="749808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01168" y="3447288"/>
            <a:ext cx="73152" cy="7498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47472" y="3502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Cuplarea Pusher ↔ Station Manager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7472" y="37216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Declanșări duble la obiecte apropiate: pusher-ul se activa înainte de terminarea ciclului anterior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749040" y="3785616"/>
            <a:ext cx="4572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160520" y="3703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498848" y="3538728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Metodă is_busy() + strat COOLDOWN dedicat — sorter logic revine la IDLE imediat după push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01168" y="4261104"/>
            <a:ext cx="8741664" cy="749808"/>
          </a:xfrm>
          <a:prstGeom prst="rect">
            <a:avLst/>
          </a:prstGeom>
          <a:solidFill>
            <a:srgbClr val="112233"/>
          </a:solidFill>
          <a:ln w="762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01168" y="4261104"/>
            <a:ext cx="73152" cy="749808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47472" y="4315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Invarianța la rotație în clasificare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47472" y="45354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Primele variante foloseau bounding box direct (sensibil la rotație), erori la orientări oblice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749040" y="4599432"/>
            <a:ext cx="457200" cy="36576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160520" y="4517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498848" y="4352544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Înlocuire cu Circularitate (4πA/P²) și Extent — mărimi geometrice complet invariante la rotație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&amp; Direcții Viitoare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funcțional, scalabil, cu arhitectură dual-mode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5029200" cy="39776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" y="1005840"/>
            <a:ext cx="5029200" cy="2743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" y="10332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PRINCIPALE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" y="1353312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complet funcțional: detecție → decizie → acționare → jurnalizare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100% în mediu simulat pentru ambele metode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CLASSIC: ~42× mai rapid  (1.52 ms vs 64.08 ms per obiect)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mai robust la rotație, confidence cuantificabilă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dual-mode: comutare live fără repornire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GUIState partajat permite tunning în timp real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automat: trasabilitate completă a fiecărui eveniment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13248" y="1005840"/>
            <a:ext cx="3511296" cy="3977640"/>
          </a:xfrm>
          <a:prstGeom prst="rect">
            <a:avLst/>
          </a:prstGeom>
          <a:solidFill>
            <a:srgbClr val="112233"/>
          </a:solidFill>
          <a:ln w="10160">
            <a:solidFill>
              <a:srgbClr val="1E49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13248" y="1005840"/>
            <a:ext cx="3511296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22976" y="10332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DIRECȚII VIITOARE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2120" y="13533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1371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Iluminare variabilă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0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în condiții non-ideale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32120" y="2057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20756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 ML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0" y="2295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sau SVM liniar &lt; 10 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32120" y="27614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0" y="27797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noi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4360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HOG, momente Hu pentru forme complexe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32120" y="34655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0" y="34838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4360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Re-antrenare automată în producție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32120" y="41696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943600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real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43600" y="4407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pe UR5 fizic cu cameră industrială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374904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3246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Sortare Automatizată în CoppeliaSim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API (ZeroMQ) · OpenCV · Random Forest · UR5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4251960"/>
            <a:ext cx="160020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0" y="4251960"/>
            <a:ext cx="160020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~42×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0" y="4572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mai rapid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4251960"/>
            <a:ext cx="160020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0" y="4572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Python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0" y="4251960"/>
            <a:ext cx="160020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0" y="4572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obiecte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1430</Words>
  <Application>Microsoft Office PowerPoint</Application>
  <PresentationFormat>On-screen Show (16:9)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 </cp:lastModifiedBy>
  <cp:revision>3</cp:revision>
  <dcterms:created xsi:type="dcterms:W3CDTF">2026-05-10T17:51:44Z</dcterms:created>
  <dcterms:modified xsi:type="dcterms:W3CDTF">2026-05-10T18:17:06Z</dcterms:modified>
</cp:coreProperties>
</file>